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72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50" y="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379E-1912-442D-A718-D47D02D847E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0951-22B1-45CE-89CB-B84BD9CB6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010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379E-1912-442D-A718-D47D02D847E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0951-22B1-45CE-89CB-B84BD9CB6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18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379E-1912-442D-A718-D47D02D847E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0951-22B1-45CE-89CB-B84BD9CB6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642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379E-1912-442D-A718-D47D02D847E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0951-22B1-45CE-89CB-B84BD9CB6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122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379E-1912-442D-A718-D47D02D847E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0951-22B1-45CE-89CB-B84BD9CB6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457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379E-1912-442D-A718-D47D02D847E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0951-22B1-45CE-89CB-B84BD9CB6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243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379E-1912-442D-A718-D47D02D847E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0951-22B1-45CE-89CB-B84BD9CB6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37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379E-1912-442D-A718-D47D02D847E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0951-22B1-45CE-89CB-B84BD9CB6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5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379E-1912-442D-A718-D47D02D847E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0951-22B1-45CE-89CB-B84BD9CB6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575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379E-1912-442D-A718-D47D02D847E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0951-22B1-45CE-89CB-B84BD9CB6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71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D379E-1912-442D-A718-D47D02D847E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020951-22B1-45CE-89CB-B84BD9CB6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055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D379E-1912-442D-A718-D47D02D847E6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20951-22B1-45CE-89CB-B84BD9CB6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948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ong video game image collage created by Jason Gauthier, U.S. Census Bureau">
            <a:extLst>
              <a:ext uri="{FF2B5EF4-FFF2-40B4-BE49-F238E27FC236}">
                <a16:creationId xmlns:a16="http://schemas.microsoft.com/office/drawing/2014/main" id="{FC592236-D0A5-C019-7032-D4547E11C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0" b="4363"/>
          <a:stretch/>
        </p:blipFill>
        <p:spPr bwMode="auto">
          <a:xfrm>
            <a:off x="-44170" y="0"/>
            <a:ext cx="12176793" cy="68203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B6079F-52CF-B4D8-CFCD-9808412C7F99}"/>
              </a:ext>
            </a:extLst>
          </p:cNvPr>
          <p:cNvSpPr txBox="1"/>
          <p:nvPr/>
        </p:nvSpPr>
        <p:spPr>
          <a:xfrm>
            <a:off x="2785241" y="5578366"/>
            <a:ext cx="6747641" cy="4616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By Roy Mears, Luis Arevalo, and Jonathan Zavala</a:t>
            </a:r>
          </a:p>
        </p:txBody>
      </p:sp>
    </p:spTree>
    <p:extLst>
      <p:ext uri="{BB962C8B-B14F-4D97-AF65-F5344CB8AC3E}">
        <p14:creationId xmlns:p14="http://schemas.microsoft.com/office/powerpoint/2010/main" val="3964442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E6CF-AD59-0C92-FFA0-2D3D7098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Pong Game Development Progress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95512-0B0A-AB9A-0EC9-8545633CB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Overview of Basic Modules &amp; Progress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Horizontal and Vertical Sync for VGA Implementation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Testing using Test Bench Ongoing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Pixel Generation Circuit in Development for Object Display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Pong Animation</a:t>
            </a:r>
            <a:endParaRPr lang="en-US" dirty="0">
              <a:solidFill>
                <a:schemeClr val="bg1"/>
              </a:solidFill>
            </a:endParaRPr>
          </a:p>
          <a:p>
            <a:pPr lvl="1"/>
            <a:endParaRPr lang="en-US" dirty="0">
              <a:solidFill>
                <a:schemeClr val="bg1"/>
              </a:solidFill>
            </a:endParaRPr>
          </a:p>
          <a:p>
            <a:pPr lvl="1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C38CC89B-C140-39DA-3D55-8D6915F2E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653" y="2984860"/>
            <a:ext cx="272681" cy="888279"/>
          </a:xfrm>
          <a:prstGeom prst="rect">
            <a:avLst/>
          </a:prstGeom>
        </p:spPr>
      </p:pic>
      <p:pic>
        <p:nvPicPr>
          <p:cNvPr id="5" name="Picture 4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A31AC81F-B152-4FC5-684B-EDB7B0EC3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99666" y="2134147"/>
            <a:ext cx="272681" cy="8882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DAFD27-3650-B3AF-457A-8FB97B4F8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35" y="3954500"/>
            <a:ext cx="267105" cy="21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77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2.96296E-6 L 0.29531 0.37755 L 0.48841 0.07338 L -0.11068 -0.55347 C -0.20377 -0.32592 -0.29713 -0.11296 -0.38997 0.11528 C -0.38997 0.11574 -0.38971 0.11528 -0.38945 0.11528 C -0.38945 0.11574 -0.22943 0.29838 -0.22943 0.29931 " pathEditMode="relative" rAng="0" ptsTypes="AAAAAAA">
                                      <p:cBhvr>
                                        <p:cTn id="25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22" y="-8796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4.07407E-6 L -0.00026 0.27546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13773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-0.00117 0 L -0.00052 0.22569 " pathEditMode="relative" rAng="0" ptsTypes="AA">
                                      <p:cBhvr>
                                        <p:cTn id="29" dur="1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11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E6CF-AD59-0C92-FFA0-2D3D7098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Key Requirements &amp; Implementation Focus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95512-0B0A-AB9A-0EC9-8545633CB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Requirements for Pong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Clock divider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Display Resolution: 640x480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Horizontal Sync Signal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Vertical Sync Signal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Pixel Generation Circuit for Object Display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Objects: Wall, Ball, Paddle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XDC File Setup for Proper Signal Connection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5CF905-6D5C-396C-AD8F-68D8A7920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912" y="5987329"/>
            <a:ext cx="267105" cy="211842"/>
          </a:xfrm>
          <a:prstGeom prst="rect">
            <a:avLst/>
          </a:prstGeom>
        </p:spPr>
      </p:pic>
      <p:pic>
        <p:nvPicPr>
          <p:cNvPr id="8" name="Picture 7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680D0CB6-FA41-2679-7439-FDC818EA26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205" y="4539210"/>
            <a:ext cx="272681" cy="888279"/>
          </a:xfrm>
          <a:prstGeom prst="rect">
            <a:avLst/>
          </a:prstGeom>
        </p:spPr>
      </p:pic>
      <p:pic>
        <p:nvPicPr>
          <p:cNvPr id="9" name="Picture 8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4B0DAA69-BB68-718A-2894-AB65F07D3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41413" y="4273166"/>
            <a:ext cx="272681" cy="88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896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-0.00024 L 0.07995 0.08009 L 0.73216 -0.7294 L 0.61354 -0.85463 L -0.16784 -0.39607 C -0.16758 -0.39653 0.25716 0.0368 0.25768 0.03634 " pathEditMode="relative" rAng="0" ptsTypes="AAAAAA">
                                      <p:cBhvr>
                                        <p:cTn id="34" dur="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242" y="-38704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2" presetClass="path" presetSubtype="0" accel="50000" decel="5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4.375E-6 -1.48148E-6 L 0.00026 -0.52245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26134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2" presetClass="path" presetSubtype="0" accel="50000" decel="5000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8.33333E-7 -3.7037E-7 L 0.00039 -0.22662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11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E6CF-AD59-0C92-FFA0-2D3D7098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VGA Basics &amp; Video Controller Overview</a:t>
            </a:r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95512-0B0A-AB9A-0EC9-8545633CB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VGA Resolution: 640x480 Pixels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Color Output: Three Video Signals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Connector: 15-pin D-sub (Analog)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Video Controller Functionality: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Generates Sync Signals &amp; Data Pixels</a:t>
            </a:r>
          </a:p>
        </p:txBody>
      </p:sp>
      <p:pic>
        <p:nvPicPr>
          <p:cNvPr id="11" name="Picture 10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FBF84F3F-5761-C751-4488-49DB292A4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780" y="2984860"/>
            <a:ext cx="272681" cy="888279"/>
          </a:xfrm>
          <a:prstGeom prst="rect">
            <a:avLst/>
          </a:prstGeom>
        </p:spPr>
      </p:pic>
      <p:pic>
        <p:nvPicPr>
          <p:cNvPr id="12" name="Picture 11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80C2D272-CDF7-C6B0-734E-5034DCB2B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0902" y="583766"/>
            <a:ext cx="272681" cy="8882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32F379B-042B-8E41-C3C4-4C738F4DA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3566" y="6205979"/>
            <a:ext cx="267105" cy="21184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E754340-C323-70AF-1DAC-FB1A25318D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0136" y="1436096"/>
            <a:ext cx="4104984" cy="199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946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3.7037E-7 L 0.05286 0.05278 L 0.47356 -0.19792 L -0.02748 -0.89074 L -0.4267 -0.02338 L -0.37956 0.05116 L -0.14141 -0.23981 " pathEditMode="relative" rAng="0" ptsTypes="AAAAAAA">
                                      <p:cBhvr>
                                        <p:cTn id="28" dur="5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44" y="-41898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4.16667E-6 1.48148E-6 L -0.00091 0.57754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28866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1.25E-6 0 L -0.00039 0.40069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200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E6CF-AD59-0C92-FFA0-2D3D7098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Horizontal &amp; Vertical Sync Signal</a:t>
            </a:r>
          </a:p>
        </p:txBody>
      </p:sp>
      <p:pic>
        <p:nvPicPr>
          <p:cNvPr id="4" name="Picture 3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8CFA5A8C-D13B-63F5-F348-CCFBD012A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779" y="5732823"/>
            <a:ext cx="272681" cy="888279"/>
          </a:xfrm>
          <a:prstGeom prst="rect">
            <a:avLst/>
          </a:prstGeom>
        </p:spPr>
      </p:pic>
      <p:pic>
        <p:nvPicPr>
          <p:cNvPr id="5" name="Picture 4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7FA1F4BE-E4F1-0C9B-D19D-0D070964CE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9881" y="4554541"/>
            <a:ext cx="272681" cy="888279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9323B91-E702-2ADF-604A-A2C0F6402C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976558" y="4554541"/>
            <a:ext cx="272681" cy="2162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2EA977-BB6A-4749-6AF5-64A41BE211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0566" y="1315463"/>
            <a:ext cx="6992545" cy="36349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F98FDE-0591-522F-2D7F-3647C051D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8868" y="1644558"/>
            <a:ext cx="7074264" cy="356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354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17 -0.00116 L 0.45911 -0.65231 L 0.61523 -0.50301 L 0.16823 0.28796 L -0.27826 -0.29907 L 0.09661 -0.60417 L 0.09661 -0.60417 " pathEditMode="relative" ptsTypes="AAAAAAA">
                                      <p:cBhvr>
                                        <p:cTn id="21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42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1.45833E-6 4.81481E-6 L -0.00052 -0.55764 " pathEditMode="relative" rAng="0" ptsTypes="AA">
                                      <p:cBhvr>
                                        <p:cTn id="23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27894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-1.25E-6 -4.44444E-6 L -0.00039 -0.52361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261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E6CF-AD59-0C92-FFA0-2D3D7098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Object-Based Pixel Generation</a:t>
            </a:r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3" name="Picture 2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84C3428D-006E-530F-BE1E-85A49C0997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779" y="2143540"/>
            <a:ext cx="272681" cy="888279"/>
          </a:xfrm>
          <a:prstGeom prst="rect">
            <a:avLst/>
          </a:prstGeom>
        </p:spPr>
      </p:pic>
      <p:pic>
        <p:nvPicPr>
          <p:cNvPr id="7" name="Picture 6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B0FE9B09-D116-C277-4B0B-8C0954941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0390" y="802409"/>
            <a:ext cx="272681" cy="888279"/>
          </a:xfrm>
          <a:prstGeom prst="rect">
            <a:avLst/>
          </a:prstGeom>
        </p:spPr>
      </p:pic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3AF39B0C-2223-CD89-B545-D97A7A5314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461" y="422932"/>
            <a:ext cx="272681" cy="216265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CE7D85B-2CC9-9E9C-B364-EC431EBED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Input Signals: </a:t>
            </a:r>
            <a:r>
              <a:rPr lang="en-US" sz="1800" dirty="0" err="1">
                <a:solidFill>
                  <a:schemeClr val="bg1">
                    <a:lumMod val="95000"/>
                  </a:schemeClr>
                </a:solidFill>
              </a:rPr>
              <a:t>video_on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1800" dirty="0" err="1">
                <a:solidFill>
                  <a:schemeClr val="bg1">
                    <a:lumMod val="95000"/>
                  </a:schemeClr>
                </a:solidFill>
              </a:rPr>
              <a:t>pix_x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1800" dirty="0" err="1">
                <a:solidFill>
                  <a:schemeClr val="bg1">
                    <a:lumMod val="95000"/>
                  </a:schemeClr>
                </a:solidFill>
              </a:rPr>
              <a:t>pix_y</a:t>
            </a: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Local Parameters for Object Boundaries</a:t>
            </a:r>
          </a:p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Signal Declaration for Object Regions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898C1D7-6EA2-CCD0-62AE-8F59B4D656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7138" y="2907123"/>
            <a:ext cx="8647386" cy="1792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752C32-D71F-97CA-4E65-9223B21A9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7137" y="4699423"/>
            <a:ext cx="8647385" cy="176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226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4.44444E-6 L 0.06198 -0.05277 L 0.51081 0.48727 L 0.11849 0.89051 L -0.37487 0.15093 L -0.19831 -0.04074 L 0.22813 0.30394 " pathEditMode="relative" rAng="0" ptsTypes="AAAAAAA">
                                      <p:cBhvr>
                                        <p:cTn id="25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97" y="41875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2.91667E-6 -2.96296E-6 L -0.00052 0.38542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9259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-1.25E-6 -4.81481E-6 L 0.00261 -0.14583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" y="-72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E6CF-AD59-0C92-FFA0-2D3D7098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Color Assignment &amp; Multiplexing</a:t>
            </a:r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CE7D85B-2CC9-9E9C-B364-EC431EBED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Signals Similar to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video_on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 for Object Regions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Multiplexer for Color Assignment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Static Image: Black (Wall, Paddle, Ball), White (Background)</a:t>
            </a:r>
          </a:p>
        </p:txBody>
      </p:sp>
      <p:pic>
        <p:nvPicPr>
          <p:cNvPr id="4" name="Picture 3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5A104B90-48C1-7165-2243-F87C72880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97" y="1171333"/>
            <a:ext cx="272681" cy="888279"/>
          </a:xfrm>
          <a:prstGeom prst="rect">
            <a:avLst/>
          </a:prstGeom>
        </p:spPr>
      </p:pic>
      <p:pic>
        <p:nvPicPr>
          <p:cNvPr id="5" name="Picture 4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604A4D3B-E3AE-0742-5408-77FBFDC85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624" y="3465786"/>
            <a:ext cx="272681" cy="888279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7E2A1B4-4F07-8571-9A45-D408B6862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661" y="2482959"/>
            <a:ext cx="272681" cy="2162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C0D04C8-A6F2-498C-3160-80AF6A25A5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6001" y="3429000"/>
            <a:ext cx="5139724" cy="315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685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9 0.00069 L 0.28373 0.29259 L 0.09011 0.58773 L -0.59935 0.23287 L -0.18476 -0.35324 L 0.11172 -0.2169 L 0.11003 -0.21551 " pathEditMode="relative" ptsTypes="AAAAAAA">
                                      <p:cBhvr>
                                        <p:cTn id="22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11111E-6 L -0.00013 0.11481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5741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4.58333E-6 3.33333E-6 L -0.0004 0.37384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8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E6CF-AD59-0C92-FFA0-2D3D7098E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Pong Animation</a:t>
            </a:r>
            <a:endParaRPr lang="en-US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CE7D85B-2CC9-9E9C-B364-EC431EBED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Signals:</a:t>
            </a:r>
          </a:p>
          <a:p>
            <a:pPr lvl="1"/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wall_on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</a:rPr>
              <a:t>ball_on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RGB Assignment: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Wall, Bar, Ball Colors Assigned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Bar's Vertical Movement: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Logic for Vertical Bar's Movement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Ball's Movement &amp; Collision Detection: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Ball's Velocity &amp; Direction Logic</a:t>
            </a:r>
          </a:p>
          <a:p>
            <a:pPr lvl="1"/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Collision Detection with Bar &amp; Screen Edges</a:t>
            </a:r>
          </a:p>
          <a:p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3" name="Picture 2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A8AB73B7-3183-2D7D-26E5-04CCF6449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97" y="3762133"/>
            <a:ext cx="272681" cy="888279"/>
          </a:xfrm>
          <a:prstGeom prst="rect">
            <a:avLst/>
          </a:prstGeom>
        </p:spPr>
      </p:pic>
      <p:pic>
        <p:nvPicPr>
          <p:cNvPr id="7" name="Picture 6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8EE55FB8-2D7E-ECF0-E97F-9589F15A7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623" y="4206272"/>
            <a:ext cx="272681" cy="888279"/>
          </a:xfrm>
          <a:prstGeom prst="rect">
            <a:avLst/>
          </a:prstGeom>
        </p:spPr>
      </p:pic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563FCB0E-C168-B002-FBA3-7CF34698E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2751" y="990491"/>
            <a:ext cx="272681" cy="21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0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0" presetClass="path" presetSubtype="0" accel="50000" decel="5000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0.00104 -0.00047 L 0.17865 0.1412 L -0.71445 0.66041 L -0.27565 -0.13033 L -0.04844 0.153 " pathEditMode="relative" rAng="0" ptsTypes="AAAAA">
                                      <p:cBhvr>
                                        <p:cTn id="37" dur="5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693" y="26551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7.40741E-7 L -0.00052 -0.37083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18542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4.58333E-6 -4.44444E-6 L 4.58333E-6 0.20741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CE7D85B-2CC9-9E9C-B364-EC431EBED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8649" y="2683805"/>
            <a:ext cx="3381703" cy="14903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600" dirty="0">
                <a:solidFill>
                  <a:schemeClr val="bg1">
                    <a:lumMod val="95000"/>
                  </a:schemeClr>
                </a:solidFill>
              </a:rPr>
              <a:t> DEMO</a:t>
            </a:r>
          </a:p>
        </p:txBody>
      </p:sp>
      <p:pic>
        <p:nvPicPr>
          <p:cNvPr id="4" name="Picture 3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5D551AE9-51DA-22A3-57BF-26BF6711A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97" y="5233582"/>
            <a:ext cx="272681" cy="888279"/>
          </a:xfrm>
          <a:prstGeom prst="rect">
            <a:avLst/>
          </a:prstGeom>
        </p:spPr>
      </p:pic>
      <p:pic>
        <p:nvPicPr>
          <p:cNvPr id="5" name="Picture 4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03CEE673-371A-D05D-ACBB-588DFE68E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623" y="1690688"/>
            <a:ext cx="272681" cy="888279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E1CC001-8D4E-239B-200C-CE6E7A83B2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3151" y="2026694"/>
            <a:ext cx="272681" cy="216265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8F2F8045-2C60-435B-C1DE-F310AB176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34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2.08333E-6 -2.59259E-6 L 0.30495 0.3523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47" y="1761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59259E-6 L -0.00052 0.39908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199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3CE7D85B-2CC9-9E9C-B364-EC431EBED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2622" y="2720590"/>
            <a:ext cx="4562951" cy="23453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600" dirty="0">
                <a:solidFill>
                  <a:schemeClr val="bg1">
                    <a:lumMod val="95000"/>
                  </a:schemeClr>
                </a:solidFill>
              </a:rPr>
              <a:t> GAMEOVER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	   </a:t>
            </a:r>
            <a:r>
              <a:rPr lang="en-US" sz="4400" dirty="0">
                <a:solidFill>
                  <a:schemeClr val="bg1">
                    <a:lumMod val="95000"/>
                  </a:schemeClr>
                </a:solidFill>
              </a:rPr>
              <a:t>Questions?</a:t>
            </a:r>
          </a:p>
        </p:txBody>
      </p:sp>
      <p:pic>
        <p:nvPicPr>
          <p:cNvPr id="4" name="Picture 3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5D551AE9-51DA-22A3-57BF-26BF6711A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97" y="5233582"/>
            <a:ext cx="272681" cy="888279"/>
          </a:xfrm>
          <a:prstGeom prst="rect">
            <a:avLst/>
          </a:prstGeom>
        </p:spPr>
      </p:pic>
      <p:pic>
        <p:nvPicPr>
          <p:cNvPr id="3" name="Picture 2" descr="A white rectangular object with black edges&#10;&#10;Description automatically generated">
            <a:extLst>
              <a:ext uri="{FF2B5EF4-FFF2-40B4-BE49-F238E27FC236}">
                <a16:creationId xmlns:a16="http://schemas.microsoft.com/office/drawing/2014/main" id="{F9B973BC-6C6A-EADA-AF68-8923A00CC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4623" y="4449653"/>
            <a:ext cx="272681" cy="88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209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1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2079</TotalTime>
  <Words>236</Words>
  <Application>Microsoft Office PowerPoint</Application>
  <PresentationFormat>Widescreen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Pong Game Development Progress</vt:lpstr>
      <vt:lpstr>Key Requirements &amp; Implementation Focus</vt:lpstr>
      <vt:lpstr>VGA Basics &amp; Video Controller Overview</vt:lpstr>
      <vt:lpstr>Horizontal &amp; Vertical Sync Signal</vt:lpstr>
      <vt:lpstr>Object-Based Pixel Generation</vt:lpstr>
      <vt:lpstr>Color Assignment &amp; Multiplexing</vt:lpstr>
      <vt:lpstr>Pong Animation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Justin Natividad</dc:creator>
  <cp:lastModifiedBy>Justin Natividad</cp:lastModifiedBy>
  <cp:revision>37</cp:revision>
  <dcterms:created xsi:type="dcterms:W3CDTF">2023-12-02T05:05:08Z</dcterms:created>
  <dcterms:modified xsi:type="dcterms:W3CDTF">2026-04-24T01:30:32Z</dcterms:modified>
</cp:coreProperties>
</file>